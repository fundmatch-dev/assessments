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53A3E5-8323-4EAB-9F2E-A18953015E6B}">
  <a:tblStyle styleId="{4153A3E5-8323-4EAB-9F2E-A18953015E6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d6b8f1e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d6b8f1e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d6b8f1e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d6b8f1e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d6b8f1ee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d6b8f1e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d6b8f1ee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d6b8f1ee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d6b8f1ee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d6b8f1ee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d6b8f1ee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d6b8f1ee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d6b8f1ee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d6b8f1ee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d6b8f1ee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d6b8f1ee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d6b8f1ee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d6b8f1ee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d6b8f1ee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d6b8f1ee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Houston Market Targeting Release Notes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Anas Junedahmed Puthawala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Developed a predictive model to identify Houston-area residents most likely to enroll in Texas Health’s HSA / FSA programs. The model scores and ranks 2,500 prospects, enabling the outreach team to prioritize </a:t>
            </a:r>
            <a:r>
              <a:rPr lang="en"/>
              <a:t>efficiency in outreach.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 the score?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Each prospect in the Houston file has an enrollment probability score between 0 and 1.</a:t>
            </a:r>
            <a:endParaRPr sz="1500"/>
          </a:p>
          <a:p>
            <a:pPr indent="-323850" lvl="1" marL="914400" rtl="0" algn="l">
              <a:spcBef>
                <a:spcPts val="0"/>
              </a:spcBef>
              <a:spcAft>
                <a:spcPts val="0"/>
              </a:spcAft>
              <a:buSzPts val="1500"/>
              <a:buChar char="○"/>
            </a:pPr>
            <a:r>
              <a:rPr lang="en" sz="1500"/>
              <a:t>Numbers closer to 1 Being that they are highly likely to enroll in </a:t>
            </a:r>
            <a:r>
              <a:rPr b="1" lang="en" sz="1500"/>
              <a:t>EITHER</a:t>
            </a:r>
            <a:r>
              <a:rPr lang="en" sz="1500"/>
              <a:t> of the programs</a:t>
            </a:r>
            <a:endParaRPr sz="1500"/>
          </a:p>
          <a:p>
            <a:pPr indent="-323850" lvl="1" marL="914400" rtl="0" algn="l">
              <a:spcBef>
                <a:spcPts val="0"/>
              </a:spcBef>
              <a:spcAft>
                <a:spcPts val="0"/>
              </a:spcAft>
              <a:buSzPts val="1500"/>
              <a:buChar char="○"/>
            </a:pPr>
            <a:r>
              <a:rPr lang="en" sz="1500"/>
              <a:t>Numbers closer to 0 Being that they are unlikely to enroll in </a:t>
            </a:r>
            <a:r>
              <a:rPr b="1" lang="en" sz="1500"/>
              <a:t>EITHER </a:t>
            </a:r>
            <a:r>
              <a:rPr lang="en" sz="1500"/>
              <a:t>of the programs</a:t>
            </a:r>
            <a:endParaRPr sz="1500"/>
          </a:p>
          <a:p>
            <a:pPr indent="-323850" lvl="0" marL="457200" rtl="0" algn="l">
              <a:spcBef>
                <a:spcPts val="0"/>
              </a:spcBef>
              <a:spcAft>
                <a:spcPts val="0"/>
              </a:spcAft>
              <a:buSzPts val="1500"/>
              <a:buChar char="●"/>
            </a:pPr>
            <a:r>
              <a:rPr lang="en" sz="1500"/>
              <a:t>Important Note: This model does not dictate which of the two plans the participant has a propensity for, additional care and modeling should be taken to prioritize and differentiate between the two plans.</a:t>
            </a:r>
            <a:endParaRPr sz="1500"/>
          </a:p>
          <a:p>
            <a:pPr indent="-323850" lvl="1" marL="914400" rtl="0" algn="l">
              <a:spcBef>
                <a:spcPts val="0"/>
              </a:spcBef>
              <a:spcAft>
                <a:spcPts val="0"/>
              </a:spcAft>
              <a:buSzPts val="1500"/>
              <a:buChar char="○"/>
            </a:pPr>
            <a:r>
              <a:rPr lang="en" sz="1500"/>
              <a:t>A secondary model can be utilized to differentiate between the two programs.</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1152475"/>
            <a:ext cx="8520600" cy="1980900"/>
          </a:xfrm>
          <a:prstGeom prst="rect">
            <a:avLst/>
          </a:prstGeom>
        </p:spPr>
        <p:txBody>
          <a:bodyPr anchorCtr="0" anchor="t" bIns="91425" lIns="91425" spcFirstLastPara="1" rIns="91425" wrap="square" tIns="91425">
            <a:normAutofit/>
          </a:bodyPr>
          <a:lstStyle/>
          <a:p>
            <a:pPr indent="-323850" lvl="0" marL="457200" rtl="0" algn="l">
              <a:lnSpc>
                <a:spcPct val="105000"/>
              </a:lnSpc>
              <a:spcBef>
                <a:spcPts val="0"/>
              </a:spcBef>
              <a:spcAft>
                <a:spcPts val="0"/>
              </a:spcAft>
              <a:buSzPts val="1500"/>
              <a:buChar char="●"/>
            </a:pPr>
            <a:r>
              <a:rPr lang="en" sz="1500"/>
              <a:t>Validated the model using 5-fold cross validation on historical enrollment records from across Texas.</a:t>
            </a:r>
            <a:endParaRPr sz="1500"/>
          </a:p>
          <a:p>
            <a:pPr indent="-323850" lvl="1" marL="914400" rtl="0" algn="l">
              <a:lnSpc>
                <a:spcPct val="105000"/>
              </a:lnSpc>
              <a:spcBef>
                <a:spcPts val="0"/>
              </a:spcBef>
              <a:spcAft>
                <a:spcPts val="0"/>
              </a:spcAft>
              <a:buSzPts val="1500"/>
              <a:buChar char="○"/>
            </a:pPr>
            <a:r>
              <a:rPr lang="en" sz="1500"/>
              <a:t>Split the dataset in various different splits, trained the model(s), examined the metrics, rinse and repeat multiple times to ensure consistency.</a:t>
            </a:r>
            <a:endParaRPr sz="1500"/>
          </a:p>
          <a:p>
            <a:pPr indent="-323850" lvl="0" marL="457200" rtl="0" algn="l">
              <a:lnSpc>
                <a:spcPct val="105000"/>
              </a:lnSpc>
              <a:spcBef>
                <a:spcPts val="0"/>
              </a:spcBef>
              <a:spcAft>
                <a:spcPts val="0"/>
              </a:spcAft>
              <a:buSzPts val="1500"/>
              <a:buChar char="●"/>
            </a:pPr>
            <a:r>
              <a:rPr lang="en" sz="1500"/>
              <a:t>I experimented with a wide set of models, from tree-based to statistical linear models. Found that Logistic Regression was ideal for our use-case due to interpretability, and performance.</a:t>
            </a:r>
            <a:endParaRPr sz="1500"/>
          </a:p>
        </p:txBody>
      </p:sp>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Validation &amp; Metrics</a:t>
            </a:r>
            <a:endParaRPr/>
          </a:p>
        </p:txBody>
      </p:sp>
      <p:graphicFrame>
        <p:nvGraphicFramePr>
          <p:cNvPr id="74" name="Google Shape;74;p16"/>
          <p:cNvGraphicFramePr/>
          <p:nvPr/>
        </p:nvGraphicFramePr>
        <p:xfrm>
          <a:off x="889975" y="2891000"/>
          <a:ext cx="3000000" cy="3000000"/>
        </p:xfrm>
        <a:graphic>
          <a:graphicData uri="http://schemas.openxmlformats.org/drawingml/2006/table">
            <a:tbl>
              <a:tblPr>
                <a:noFill/>
                <a:tableStyleId>{4153A3E5-8323-4EAB-9F2E-A18953015E6B}</a:tableStyleId>
              </a:tblPr>
              <a:tblGrid>
                <a:gridCol w="1292025"/>
                <a:gridCol w="1499225"/>
              </a:tblGrid>
              <a:tr h="429475">
                <a:tc>
                  <a:txBody>
                    <a:bodyPr/>
                    <a:lstStyle/>
                    <a:p>
                      <a:pPr indent="0" lvl="0" marL="0" rtl="0" algn="l">
                        <a:spcBef>
                          <a:spcPts val="0"/>
                        </a:spcBef>
                        <a:spcAft>
                          <a:spcPts val="0"/>
                        </a:spcAft>
                        <a:buNone/>
                      </a:pPr>
                      <a:r>
                        <a:rPr lang="en" sz="1200"/>
                        <a:t>Metric</a:t>
                      </a:r>
                      <a:endParaRPr sz="1200"/>
                    </a:p>
                  </a:txBody>
                  <a:tcPr marT="91425" marB="91425" marR="91425" marL="91425"/>
                </a:tc>
                <a:tc>
                  <a:txBody>
                    <a:bodyPr/>
                    <a:lstStyle/>
                    <a:p>
                      <a:pPr indent="0" lvl="0" marL="0" rtl="0" algn="l">
                        <a:spcBef>
                          <a:spcPts val="0"/>
                        </a:spcBef>
                        <a:spcAft>
                          <a:spcPts val="0"/>
                        </a:spcAft>
                        <a:buNone/>
                      </a:pPr>
                      <a:r>
                        <a:rPr lang="en" sz="1200"/>
                        <a:t>Value</a:t>
                      </a:r>
                      <a:endParaRPr sz="1200"/>
                    </a:p>
                  </a:txBody>
                  <a:tcPr marT="91425" marB="91425" marR="91425" marL="91425"/>
                </a:tc>
              </a:tr>
              <a:tr h="429475">
                <a:tc>
                  <a:txBody>
                    <a:bodyPr/>
                    <a:lstStyle/>
                    <a:p>
                      <a:pPr indent="0" lvl="0" marL="0" rtl="0" algn="l">
                        <a:spcBef>
                          <a:spcPts val="0"/>
                        </a:spcBef>
                        <a:spcAft>
                          <a:spcPts val="0"/>
                        </a:spcAft>
                        <a:buNone/>
                      </a:pPr>
                      <a:r>
                        <a:rPr lang="en" sz="1200"/>
                        <a:t>AUC</a:t>
                      </a:r>
                      <a:endParaRPr sz="1200"/>
                    </a:p>
                  </a:txBody>
                  <a:tcPr marT="91425" marB="91425" marR="91425" marL="91425"/>
                </a:tc>
                <a:tc>
                  <a:txBody>
                    <a:bodyPr/>
                    <a:lstStyle/>
                    <a:p>
                      <a:pPr indent="0" lvl="0" marL="0" rtl="0" algn="l">
                        <a:spcBef>
                          <a:spcPts val="0"/>
                        </a:spcBef>
                        <a:spcAft>
                          <a:spcPts val="0"/>
                        </a:spcAft>
                        <a:buNone/>
                      </a:pPr>
                      <a:r>
                        <a:rPr lang="en" sz="1200"/>
                        <a:t>0.74</a:t>
                      </a:r>
                      <a:endParaRPr sz="1200"/>
                    </a:p>
                  </a:txBody>
                  <a:tcPr marT="91425" marB="91425" marR="91425" marL="91425"/>
                </a:tc>
              </a:tr>
              <a:tr h="429475">
                <a:tc>
                  <a:txBody>
                    <a:bodyPr/>
                    <a:lstStyle/>
                    <a:p>
                      <a:pPr indent="0" lvl="0" marL="0" rtl="0" algn="l">
                        <a:spcBef>
                          <a:spcPts val="0"/>
                        </a:spcBef>
                        <a:spcAft>
                          <a:spcPts val="0"/>
                        </a:spcAft>
                        <a:buNone/>
                      </a:pPr>
                      <a:r>
                        <a:rPr lang="en" sz="1200"/>
                        <a:t>Recall</a:t>
                      </a:r>
                      <a:endParaRPr sz="1200"/>
                    </a:p>
                  </a:txBody>
                  <a:tcPr marT="91425" marB="91425" marR="91425" marL="91425"/>
                </a:tc>
                <a:tc>
                  <a:txBody>
                    <a:bodyPr/>
                    <a:lstStyle/>
                    <a:p>
                      <a:pPr indent="0" lvl="0" marL="0" rtl="0" algn="l">
                        <a:spcBef>
                          <a:spcPts val="0"/>
                        </a:spcBef>
                        <a:spcAft>
                          <a:spcPts val="0"/>
                        </a:spcAft>
                        <a:buNone/>
                      </a:pPr>
                      <a:r>
                        <a:rPr lang="en" sz="1200"/>
                        <a:t>66.0%</a:t>
                      </a:r>
                      <a:endParaRPr sz="1200"/>
                    </a:p>
                  </a:txBody>
                  <a:tcPr marT="91425" marB="91425" marR="91425" marL="91425"/>
                </a:tc>
              </a:tr>
              <a:tr h="429475">
                <a:tc>
                  <a:txBody>
                    <a:bodyPr/>
                    <a:lstStyle/>
                    <a:p>
                      <a:pPr indent="0" lvl="0" marL="0" rtl="0" algn="l">
                        <a:spcBef>
                          <a:spcPts val="0"/>
                        </a:spcBef>
                        <a:spcAft>
                          <a:spcPts val="0"/>
                        </a:spcAft>
                        <a:buNone/>
                      </a:pPr>
                      <a:r>
                        <a:rPr lang="en" sz="1200"/>
                        <a:t>F2 Score</a:t>
                      </a:r>
                      <a:endParaRPr sz="1200"/>
                    </a:p>
                  </a:txBody>
                  <a:tcPr marT="91425" marB="91425" marR="91425" marL="91425"/>
                </a:tc>
                <a:tc>
                  <a:txBody>
                    <a:bodyPr/>
                    <a:lstStyle/>
                    <a:p>
                      <a:pPr indent="0" lvl="0" marL="0" rtl="0" algn="l">
                        <a:spcBef>
                          <a:spcPts val="0"/>
                        </a:spcBef>
                        <a:spcAft>
                          <a:spcPts val="0"/>
                        </a:spcAft>
                        <a:buNone/>
                      </a:pPr>
                      <a:r>
                        <a:rPr lang="en" sz="1200"/>
                        <a:t>0.66</a:t>
                      </a:r>
                      <a:endParaRPr sz="1200"/>
                    </a:p>
                  </a:txBody>
                  <a:tcPr marT="91425" marB="91425" marR="91425" marL="91425"/>
                </a:tc>
              </a:tr>
              <a:tr h="429475">
                <a:tc>
                  <a:txBody>
                    <a:bodyPr/>
                    <a:lstStyle/>
                    <a:p>
                      <a:pPr indent="0" lvl="0" marL="0" rtl="0" algn="l">
                        <a:spcBef>
                          <a:spcPts val="0"/>
                        </a:spcBef>
                        <a:spcAft>
                          <a:spcPts val="0"/>
                        </a:spcAft>
                        <a:buNone/>
                      </a:pPr>
                      <a:r>
                        <a:rPr lang="en" sz="1200"/>
                        <a:t>Precision</a:t>
                      </a:r>
                      <a:endParaRPr sz="1200"/>
                    </a:p>
                  </a:txBody>
                  <a:tcPr marT="91425" marB="91425" marR="91425" marL="91425"/>
                </a:tc>
                <a:tc>
                  <a:txBody>
                    <a:bodyPr/>
                    <a:lstStyle/>
                    <a:p>
                      <a:pPr indent="0" lvl="0" marL="0" rtl="0" algn="l">
                        <a:spcBef>
                          <a:spcPts val="0"/>
                        </a:spcBef>
                        <a:spcAft>
                          <a:spcPts val="0"/>
                        </a:spcAft>
                        <a:buNone/>
                      </a:pPr>
                      <a:r>
                        <a:rPr lang="en" sz="1200"/>
                        <a:t>66.7%</a:t>
                      </a:r>
                      <a:endParaRPr sz="1200"/>
                    </a:p>
                  </a:txBody>
                  <a:tcPr marT="91425" marB="91425" marR="91425" marL="91425"/>
                </a:tc>
              </a:tr>
            </a:tbl>
          </a:graphicData>
        </a:graphic>
      </p:graphicFrame>
      <p:sp>
        <p:nvSpPr>
          <p:cNvPr id="75" name="Google Shape;75;p16"/>
          <p:cNvSpPr txBox="1"/>
          <p:nvPr>
            <p:ph idx="1" type="body"/>
          </p:nvPr>
        </p:nvSpPr>
        <p:spPr>
          <a:xfrm>
            <a:off x="3924050" y="2891000"/>
            <a:ext cx="4611900" cy="19809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SzPct val="100000"/>
              <a:buChar char="●"/>
            </a:pPr>
            <a:r>
              <a:rPr lang="en" sz="1200"/>
              <a:t>Recall</a:t>
            </a:r>
            <a:endParaRPr sz="1200"/>
          </a:p>
          <a:p>
            <a:pPr indent="-299085" lvl="1" marL="914400" rtl="0" algn="l">
              <a:spcBef>
                <a:spcPts val="0"/>
              </a:spcBef>
              <a:spcAft>
                <a:spcPts val="0"/>
              </a:spcAft>
              <a:buSzPct val="100000"/>
              <a:buChar char="○"/>
            </a:pPr>
            <a:r>
              <a:rPr lang="en" sz="1200"/>
              <a:t>Of all the people who would actually enroll, what percentage did we correctly identify?</a:t>
            </a:r>
            <a:endParaRPr sz="1200"/>
          </a:p>
          <a:p>
            <a:pPr indent="-299085" lvl="0" marL="457200" rtl="0" algn="l">
              <a:spcBef>
                <a:spcPts val="0"/>
              </a:spcBef>
              <a:spcAft>
                <a:spcPts val="0"/>
              </a:spcAft>
              <a:buSzPct val="100000"/>
              <a:buChar char="●"/>
            </a:pPr>
            <a:r>
              <a:rPr lang="en" sz="1200"/>
              <a:t>Precision</a:t>
            </a:r>
            <a:endParaRPr sz="1200"/>
          </a:p>
          <a:p>
            <a:pPr indent="-299085" lvl="1" marL="914400" rtl="0" algn="l">
              <a:spcBef>
                <a:spcPts val="0"/>
              </a:spcBef>
              <a:spcAft>
                <a:spcPts val="0"/>
              </a:spcAft>
              <a:buSzPct val="100000"/>
              <a:buChar char="○"/>
            </a:pPr>
            <a:r>
              <a:rPr lang="en" sz="1200"/>
              <a:t>Of the people that the model predicted would enroll, what percentage </a:t>
            </a:r>
            <a:r>
              <a:rPr lang="en" sz="1200"/>
              <a:t>actually</a:t>
            </a:r>
            <a:r>
              <a:rPr lang="en" sz="1200"/>
              <a:t> enrolled?</a:t>
            </a:r>
            <a:endParaRPr sz="1200"/>
          </a:p>
          <a:p>
            <a:pPr indent="-299085" lvl="0" marL="457200" rtl="0" algn="l">
              <a:spcBef>
                <a:spcPts val="0"/>
              </a:spcBef>
              <a:spcAft>
                <a:spcPts val="0"/>
              </a:spcAft>
              <a:buSzPct val="100000"/>
              <a:buChar char="●"/>
            </a:pPr>
            <a:r>
              <a:rPr lang="en" sz="1200"/>
              <a:t>F2 Score</a:t>
            </a:r>
            <a:endParaRPr sz="1200"/>
          </a:p>
          <a:p>
            <a:pPr indent="-299085" lvl="1" marL="914400" rtl="0" algn="l">
              <a:spcBef>
                <a:spcPts val="0"/>
              </a:spcBef>
              <a:spcAft>
                <a:spcPts val="0"/>
              </a:spcAft>
              <a:buSzPct val="100000"/>
              <a:buChar char="○"/>
            </a:pPr>
            <a:r>
              <a:rPr lang="en" sz="1200"/>
              <a:t>Variant of F1 score, putting more emphasis on Recall</a:t>
            </a:r>
            <a:endParaRPr sz="1200"/>
          </a:p>
          <a:p>
            <a:pPr indent="-299085" lvl="0" marL="457200" rtl="0" algn="l">
              <a:spcBef>
                <a:spcPts val="0"/>
              </a:spcBef>
              <a:spcAft>
                <a:spcPts val="0"/>
              </a:spcAft>
              <a:buSzPct val="100000"/>
              <a:buChar char="●"/>
            </a:pPr>
            <a:r>
              <a:rPr lang="en" sz="1200"/>
              <a:t>AUC</a:t>
            </a:r>
            <a:endParaRPr sz="1200"/>
          </a:p>
          <a:p>
            <a:pPr indent="-299085" lvl="1" marL="914400" rtl="0" algn="l">
              <a:spcBef>
                <a:spcPts val="0"/>
              </a:spcBef>
              <a:spcAft>
                <a:spcPts val="0"/>
              </a:spcAft>
              <a:buSzPct val="100000"/>
              <a:buChar char="○"/>
            </a:pPr>
            <a:r>
              <a:rPr lang="en" sz="1200"/>
              <a:t>Measures how well the model ranks people, do likely enrollers end up at the top of the list?</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Impact</a:t>
            </a:r>
            <a:endParaRPr/>
          </a:p>
        </p:txBody>
      </p:sp>
      <p:sp>
        <p:nvSpPr>
          <p:cNvPr id="81" name="Google Shape;81;p17"/>
          <p:cNvSpPr txBox="1"/>
          <p:nvPr>
            <p:ph idx="1" type="body"/>
          </p:nvPr>
        </p:nvSpPr>
        <p:spPr>
          <a:xfrm>
            <a:off x="311700" y="1152475"/>
            <a:ext cx="5676000" cy="3897300"/>
          </a:xfrm>
          <a:prstGeom prst="rect">
            <a:avLst/>
          </a:prstGeom>
        </p:spPr>
        <p:txBody>
          <a:bodyPr anchorCtr="0" anchor="t" bIns="91425" lIns="91425" spcFirstLastPara="1" rIns="91425" wrap="square" tIns="91425">
            <a:normAutofit lnSpcReduction="20000"/>
          </a:bodyPr>
          <a:lstStyle/>
          <a:p>
            <a:pPr indent="-323850" lvl="0" marL="457200" rtl="0" algn="l">
              <a:spcBef>
                <a:spcPts val="0"/>
              </a:spcBef>
              <a:spcAft>
                <a:spcPts val="0"/>
              </a:spcAft>
              <a:buSzPts val="1500"/>
              <a:buChar char="●"/>
            </a:pPr>
            <a:r>
              <a:rPr lang="en" sz="1500"/>
              <a:t>Recall (66%) - Model successfully captured 66% of people who were going to enroll. If there were 100 actual enrollers hidden in the data, the model </a:t>
            </a:r>
            <a:r>
              <a:rPr lang="en" sz="1500"/>
              <a:t>successfully</a:t>
            </a:r>
            <a:r>
              <a:rPr lang="en" sz="1500"/>
              <a:t> identified 66%.</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Precision (66.7%) - How efficient the model can be. If we are doing outreach to 100 people that the model flag, on average around 67 of those should be actual enrollers, and 33 will not.</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F1 and F2 scores are means to optimize and get a holistic view of combining metrics such as Precision and Recall, and in the case of F2 giving more weight towards Recall, as is important in our use-case.</a:t>
            </a:r>
            <a:endParaRPr sz="1500"/>
          </a:p>
        </p:txBody>
      </p:sp>
      <p:graphicFrame>
        <p:nvGraphicFramePr>
          <p:cNvPr id="82" name="Google Shape;82;p17"/>
          <p:cNvGraphicFramePr/>
          <p:nvPr/>
        </p:nvGraphicFramePr>
        <p:xfrm>
          <a:off x="6135075" y="1616850"/>
          <a:ext cx="3000000" cy="3000000"/>
        </p:xfrm>
        <a:graphic>
          <a:graphicData uri="http://schemas.openxmlformats.org/drawingml/2006/table">
            <a:tbl>
              <a:tblPr>
                <a:noFill/>
                <a:tableStyleId>{4153A3E5-8323-4EAB-9F2E-A18953015E6B}</a:tableStyleId>
              </a:tblPr>
              <a:tblGrid>
                <a:gridCol w="1292025"/>
                <a:gridCol w="1499225"/>
              </a:tblGrid>
              <a:tr h="429475">
                <a:tc>
                  <a:txBody>
                    <a:bodyPr/>
                    <a:lstStyle/>
                    <a:p>
                      <a:pPr indent="0" lvl="0" marL="0" rtl="0" algn="l">
                        <a:spcBef>
                          <a:spcPts val="0"/>
                        </a:spcBef>
                        <a:spcAft>
                          <a:spcPts val="0"/>
                        </a:spcAft>
                        <a:buNone/>
                      </a:pPr>
                      <a:r>
                        <a:rPr lang="en" sz="1200"/>
                        <a:t>Metric</a:t>
                      </a:r>
                      <a:endParaRPr sz="1200"/>
                    </a:p>
                  </a:txBody>
                  <a:tcPr marT="91425" marB="91425" marR="91425" marL="91425"/>
                </a:tc>
                <a:tc>
                  <a:txBody>
                    <a:bodyPr/>
                    <a:lstStyle/>
                    <a:p>
                      <a:pPr indent="0" lvl="0" marL="0" rtl="0" algn="l">
                        <a:spcBef>
                          <a:spcPts val="0"/>
                        </a:spcBef>
                        <a:spcAft>
                          <a:spcPts val="0"/>
                        </a:spcAft>
                        <a:buNone/>
                      </a:pPr>
                      <a:r>
                        <a:rPr lang="en" sz="1200"/>
                        <a:t>Value</a:t>
                      </a:r>
                      <a:endParaRPr sz="1200"/>
                    </a:p>
                  </a:txBody>
                  <a:tcPr marT="91425" marB="91425" marR="91425" marL="91425"/>
                </a:tc>
              </a:tr>
              <a:tr h="429475">
                <a:tc>
                  <a:txBody>
                    <a:bodyPr/>
                    <a:lstStyle/>
                    <a:p>
                      <a:pPr indent="0" lvl="0" marL="0" rtl="0" algn="l">
                        <a:spcBef>
                          <a:spcPts val="0"/>
                        </a:spcBef>
                        <a:spcAft>
                          <a:spcPts val="0"/>
                        </a:spcAft>
                        <a:buNone/>
                      </a:pPr>
                      <a:r>
                        <a:rPr lang="en" sz="1200"/>
                        <a:t>AUC</a:t>
                      </a:r>
                      <a:endParaRPr sz="1200"/>
                    </a:p>
                  </a:txBody>
                  <a:tcPr marT="91425" marB="91425" marR="91425" marL="91425"/>
                </a:tc>
                <a:tc>
                  <a:txBody>
                    <a:bodyPr/>
                    <a:lstStyle/>
                    <a:p>
                      <a:pPr indent="0" lvl="0" marL="0" rtl="0" algn="l">
                        <a:spcBef>
                          <a:spcPts val="0"/>
                        </a:spcBef>
                        <a:spcAft>
                          <a:spcPts val="0"/>
                        </a:spcAft>
                        <a:buNone/>
                      </a:pPr>
                      <a:r>
                        <a:rPr lang="en" sz="1200"/>
                        <a:t>0.74</a:t>
                      </a:r>
                      <a:endParaRPr sz="1200"/>
                    </a:p>
                  </a:txBody>
                  <a:tcPr marT="91425" marB="91425" marR="91425" marL="91425"/>
                </a:tc>
              </a:tr>
              <a:tr h="429475">
                <a:tc>
                  <a:txBody>
                    <a:bodyPr/>
                    <a:lstStyle/>
                    <a:p>
                      <a:pPr indent="0" lvl="0" marL="0" rtl="0" algn="l">
                        <a:spcBef>
                          <a:spcPts val="0"/>
                        </a:spcBef>
                        <a:spcAft>
                          <a:spcPts val="0"/>
                        </a:spcAft>
                        <a:buNone/>
                      </a:pPr>
                      <a:r>
                        <a:rPr lang="en" sz="1200"/>
                        <a:t>Recall</a:t>
                      </a:r>
                      <a:endParaRPr sz="1200"/>
                    </a:p>
                  </a:txBody>
                  <a:tcPr marT="91425" marB="91425" marR="91425" marL="91425"/>
                </a:tc>
                <a:tc>
                  <a:txBody>
                    <a:bodyPr/>
                    <a:lstStyle/>
                    <a:p>
                      <a:pPr indent="0" lvl="0" marL="0" rtl="0" algn="l">
                        <a:spcBef>
                          <a:spcPts val="0"/>
                        </a:spcBef>
                        <a:spcAft>
                          <a:spcPts val="0"/>
                        </a:spcAft>
                        <a:buNone/>
                      </a:pPr>
                      <a:r>
                        <a:rPr lang="en" sz="1200"/>
                        <a:t>66.0%</a:t>
                      </a:r>
                      <a:endParaRPr sz="1200"/>
                    </a:p>
                  </a:txBody>
                  <a:tcPr marT="91425" marB="91425" marR="91425" marL="91425"/>
                </a:tc>
              </a:tr>
              <a:tr h="429475">
                <a:tc>
                  <a:txBody>
                    <a:bodyPr/>
                    <a:lstStyle/>
                    <a:p>
                      <a:pPr indent="0" lvl="0" marL="0" rtl="0" algn="l">
                        <a:spcBef>
                          <a:spcPts val="0"/>
                        </a:spcBef>
                        <a:spcAft>
                          <a:spcPts val="0"/>
                        </a:spcAft>
                        <a:buNone/>
                      </a:pPr>
                      <a:r>
                        <a:rPr lang="en" sz="1200"/>
                        <a:t>F2 Score</a:t>
                      </a:r>
                      <a:endParaRPr sz="1200"/>
                    </a:p>
                  </a:txBody>
                  <a:tcPr marT="91425" marB="91425" marR="91425" marL="91425"/>
                </a:tc>
                <a:tc>
                  <a:txBody>
                    <a:bodyPr/>
                    <a:lstStyle/>
                    <a:p>
                      <a:pPr indent="0" lvl="0" marL="0" rtl="0" algn="l">
                        <a:spcBef>
                          <a:spcPts val="0"/>
                        </a:spcBef>
                        <a:spcAft>
                          <a:spcPts val="0"/>
                        </a:spcAft>
                        <a:buNone/>
                      </a:pPr>
                      <a:r>
                        <a:rPr lang="en" sz="1200"/>
                        <a:t>0.66</a:t>
                      </a:r>
                      <a:endParaRPr sz="1200"/>
                    </a:p>
                  </a:txBody>
                  <a:tcPr marT="91425" marB="91425" marR="91425" marL="91425"/>
                </a:tc>
              </a:tr>
              <a:tr h="429475">
                <a:tc>
                  <a:txBody>
                    <a:bodyPr/>
                    <a:lstStyle/>
                    <a:p>
                      <a:pPr indent="0" lvl="0" marL="0" rtl="0" algn="l">
                        <a:spcBef>
                          <a:spcPts val="0"/>
                        </a:spcBef>
                        <a:spcAft>
                          <a:spcPts val="0"/>
                        </a:spcAft>
                        <a:buNone/>
                      </a:pPr>
                      <a:r>
                        <a:rPr lang="en" sz="1200"/>
                        <a:t>Precision</a:t>
                      </a:r>
                      <a:endParaRPr sz="1200"/>
                    </a:p>
                  </a:txBody>
                  <a:tcPr marT="91425" marB="91425" marR="91425" marL="91425"/>
                </a:tc>
                <a:tc>
                  <a:txBody>
                    <a:bodyPr/>
                    <a:lstStyle/>
                    <a:p>
                      <a:pPr indent="0" lvl="0" marL="0" rtl="0" algn="l">
                        <a:spcBef>
                          <a:spcPts val="0"/>
                        </a:spcBef>
                        <a:spcAft>
                          <a:spcPts val="0"/>
                        </a:spcAft>
                        <a:buNone/>
                      </a:pPr>
                      <a:r>
                        <a:rPr lang="en" sz="1200"/>
                        <a:t>66.7%</a:t>
                      </a:r>
                      <a:endParaRPr sz="12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Impact</a:t>
            </a:r>
            <a:endParaRPr/>
          </a:p>
        </p:txBody>
      </p:sp>
      <p:sp>
        <p:nvSpPr>
          <p:cNvPr id="88" name="Google Shape;88;p18"/>
          <p:cNvSpPr txBox="1"/>
          <p:nvPr>
            <p:ph idx="1" type="body"/>
          </p:nvPr>
        </p:nvSpPr>
        <p:spPr>
          <a:xfrm>
            <a:off x="311700" y="11368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Gain @ X% - Cumulative percentage of all possible outcomes. As ‘X’ increases, Gain will increase too (if you look at 100% data, your Gain should be 100%). </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Lift @ X% - The ratio of how much better the model </a:t>
            </a:r>
            <a:r>
              <a:rPr lang="en" sz="1500"/>
              <a:t>performance is</a:t>
            </a:r>
            <a:r>
              <a:rPr lang="en" sz="1500"/>
              <a:t> than random. As ‘X’ increases, Lift usually decreases because the model’s ability to filter the best cases become diluted as you include lower-probability records.</a:t>
            </a:r>
            <a:endParaRPr sz="1500"/>
          </a:p>
        </p:txBody>
      </p:sp>
      <p:graphicFrame>
        <p:nvGraphicFramePr>
          <p:cNvPr id="89" name="Google Shape;89;p18"/>
          <p:cNvGraphicFramePr/>
          <p:nvPr/>
        </p:nvGraphicFramePr>
        <p:xfrm>
          <a:off x="948600" y="3294975"/>
          <a:ext cx="3000000" cy="3000000"/>
        </p:xfrm>
        <a:graphic>
          <a:graphicData uri="http://schemas.openxmlformats.org/drawingml/2006/table">
            <a:tbl>
              <a:tblPr>
                <a:noFill/>
                <a:tableStyleId>{4153A3E5-8323-4EAB-9F2E-A18953015E6B}</a:tableStyleId>
              </a:tblPr>
              <a:tblGrid>
                <a:gridCol w="2415600"/>
                <a:gridCol w="2415600"/>
                <a:gridCol w="2415600"/>
              </a:tblGrid>
              <a:tr h="295000">
                <a:tc>
                  <a:txBody>
                    <a:bodyPr/>
                    <a:lstStyle/>
                    <a:p>
                      <a:pPr indent="0" lvl="0" marL="0" rtl="0" algn="l">
                        <a:spcBef>
                          <a:spcPts val="0"/>
                        </a:spcBef>
                        <a:spcAft>
                          <a:spcPts val="0"/>
                        </a:spcAft>
                        <a:buNone/>
                      </a:pPr>
                      <a:r>
                        <a:rPr lang="en"/>
                        <a:t>% Of List Contacted</a:t>
                      </a:r>
                      <a:endParaRPr/>
                    </a:p>
                  </a:txBody>
                  <a:tcPr marT="91425" marB="91425" marR="91425" marL="91425"/>
                </a:tc>
                <a:tc>
                  <a:txBody>
                    <a:bodyPr/>
                    <a:lstStyle/>
                    <a:p>
                      <a:pPr indent="0" lvl="0" marL="0" rtl="0" algn="l">
                        <a:spcBef>
                          <a:spcPts val="0"/>
                        </a:spcBef>
                        <a:spcAft>
                          <a:spcPts val="0"/>
                        </a:spcAft>
                        <a:buNone/>
                      </a:pPr>
                      <a:r>
                        <a:rPr lang="en"/>
                        <a:t>% Of Enrollers Captured</a:t>
                      </a:r>
                      <a:endParaRPr/>
                    </a:p>
                  </a:txBody>
                  <a:tcPr marT="91425" marB="91425" marR="91425" marL="91425"/>
                </a:tc>
                <a:tc>
                  <a:txBody>
                    <a:bodyPr/>
                    <a:lstStyle/>
                    <a:p>
                      <a:pPr indent="0" lvl="0" marL="0" rtl="0" algn="l">
                        <a:spcBef>
                          <a:spcPts val="0"/>
                        </a:spcBef>
                        <a:spcAft>
                          <a:spcPts val="0"/>
                        </a:spcAft>
                        <a:buNone/>
                      </a:pPr>
                      <a:r>
                        <a:rPr lang="en"/>
                        <a:t>Lift vs Random</a:t>
                      </a:r>
                      <a:endParaRPr/>
                    </a:p>
                  </a:txBody>
                  <a:tcPr marT="91425" marB="91425" marR="91425" marL="91425"/>
                </a:tc>
              </a:tr>
              <a:tr h="381000">
                <a:tc>
                  <a:txBody>
                    <a:bodyPr/>
                    <a:lstStyle/>
                    <a:p>
                      <a:pPr indent="0" lvl="0" marL="0" rtl="0" algn="l">
                        <a:spcBef>
                          <a:spcPts val="0"/>
                        </a:spcBef>
                        <a:spcAft>
                          <a:spcPts val="0"/>
                        </a:spcAft>
                        <a:buNone/>
                      </a:pPr>
                      <a:r>
                        <a:rPr lang="en"/>
                        <a:t>Top 10% model scores</a:t>
                      </a:r>
                      <a:endParaRPr/>
                    </a:p>
                  </a:txBody>
                  <a:tcPr marT="91425" marB="91425" marR="91425" marL="91425"/>
                </a:tc>
                <a:tc>
                  <a:txBody>
                    <a:bodyPr/>
                    <a:lstStyle/>
                    <a:p>
                      <a:pPr indent="0" lvl="0" marL="0" rtl="0" algn="l">
                        <a:spcBef>
                          <a:spcPts val="0"/>
                        </a:spcBef>
                        <a:spcAft>
                          <a:spcPts val="0"/>
                        </a:spcAft>
                        <a:buNone/>
                      </a:pPr>
                      <a:r>
                        <a:rPr lang="en"/>
                        <a:t>17.7%</a:t>
                      </a:r>
                      <a:endParaRPr/>
                    </a:p>
                  </a:txBody>
                  <a:tcPr marT="91425" marB="91425" marR="91425" marL="91425"/>
                </a:tc>
                <a:tc>
                  <a:txBody>
                    <a:bodyPr/>
                    <a:lstStyle/>
                    <a:p>
                      <a:pPr indent="0" lvl="0" marL="0" rtl="0" algn="l">
                        <a:spcBef>
                          <a:spcPts val="0"/>
                        </a:spcBef>
                        <a:spcAft>
                          <a:spcPts val="0"/>
                        </a:spcAft>
                        <a:buNone/>
                      </a:pPr>
                      <a:r>
                        <a:rPr lang="en"/>
                        <a:t>1.77x</a:t>
                      </a:r>
                      <a:endParaRPr/>
                    </a:p>
                  </a:txBody>
                  <a:tcPr marT="91425" marB="91425" marR="91425" marL="91425"/>
                </a:tc>
              </a:tr>
              <a:tr h="381000">
                <a:tc>
                  <a:txBody>
                    <a:bodyPr/>
                    <a:lstStyle/>
                    <a:p>
                      <a:pPr indent="0" lvl="0" marL="0" rtl="0" algn="l">
                        <a:spcBef>
                          <a:spcPts val="0"/>
                        </a:spcBef>
                        <a:spcAft>
                          <a:spcPts val="0"/>
                        </a:spcAft>
                        <a:buNone/>
                      </a:pPr>
                      <a:r>
                        <a:rPr lang="en"/>
                        <a:t>Top 20% model scores</a:t>
                      </a:r>
                      <a:endParaRPr/>
                    </a:p>
                  </a:txBody>
                  <a:tcPr marT="91425" marB="91425" marR="91425" marL="91425"/>
                </a:tc>
                <a:tc>
                  <a:txBody>
                    <a:bodyPr/>
                    <a:lstStyle/>
                    <a:p>
                      <a:pPr indent="0" lvl="0" marL="0" rtl="0" algn="l">
                        <a:spcBef>
                          <a:spcPts val="0"/>
                        </a:spcBef>
                        <a:spcAft>
                          <a:spcPts val="0"/>
                        </a:spcAft>
                        <a:buNone/>
                      </a:pPr>
                      <a:r>
                        <a:rPr lang="en"/>
                        <a:t>32.9%</a:t>
                      </a:r>
                      <a:endParaRPr/>
                    </a:p>
                  </a:txBody>
                  <a:tcPr marT="91425" marB="91425" marR="91425" marL="91425"/>
                </a:tc>
                <a:tc>
                  <a:txBody>
                    <a:bodyPr/>
                    <a:lstStyle/>
                    <a:p>
                      <a:pPr indent="0" lvl="0" marL="0" rtl="0" algn="l">
                        <a:spcBef>
                          <a:spcPts val="0"/>
                        </a:spcBef>
                        <a:spcAft>
                          <a:spcPts val="0"/>
                        </a:spcAft>
                        <a:buNone/>
                      </a:pPr>
                      <a:r>
                        <a:rPr lang="en"/>
                        <a:t>1.64x</a:t>
                      </a:r>
                      <a:endParaRPr/>
                    </a:p>
                  </a:txBody>
                  <a:tcPr marT="91425" marB="91425" marR="91425" marL="91425"/>
                </a:tc>
              </a:tr>
              <a:tr h="381000">
                <a:tc>
                  <a:txBody>
                    <a:bodyPr/>
                    <a:lstStyle/>
                    <a:p>
                      <a:pPr indent="0" lvl="0" marL="0" rtl="0" algn="l">
                        <a:spcBef>
                          <a:spcPts val="0"/>
                        </a:spcBef>
                        <a:spcAft>
                          <a:spcPts val="0"/>
                        </a:spcAft>
                        <a:buNone/>
                      </a:pPr>
                      <a:r>
                        <a:rPr lang="en"/>
                        <a:t>Top 30% model scores</a:t>
                      </a:r>
                      <a:endParaRPr/>
                    </a:p>
                  </a:txBody>
                  <a:tcPr marT="91425" marB="91425" marR="91425" marL="91425"/>
                </a:tc>
                <a:tc>
                  <a:txBody>
                    <a:bodyPr/>
                    <a:lstStyle/>
                    <a:p>
                      <a:pPr indent="0" lvl="0" marL="0" rtl="0" algn="l">
                        <a:spcBef>
                          <a:spcPts val="0"/>
                        </a:spcBef>
                        <a:spcAft>
                          <a:spcPts val="0"/>
                        </a:spcAft>
                        <a:buNone/>
                      </a:pPr>
                      <a:r>
                        <a:rPr lang="en"/>
                        <a:t>45.9%</a:t>
                      </a:r>
                      <a:endParaRPr/>
                    </a:p>
                  </a:txBody>
                  <a:tcPr marT="91425" marB="91425" marR="91425" marL="91425"/>
                </a:tc>
                <a:tc>
                  <a:txBody>
                    <a:bodyPr/>
                    <a:lstStyle/>
                    <a:p>
                      <a:pPr indent="0" lvl="0" marL="0" rtl="0" algn="l">
                        <a:spcBef>
                          <a:spcPts val="0"/>
                        </a:spcBef>
                        <a:spcAft>
                          <a:spcPts val="0"/>
                        </a:spcAft>
                        <a:buNone/>
                      </a:pPr>
                      <a:r>
                        <a:rPr lang="en"/>
                        <a:t>1.53x</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Impact</a:t>
            </a:r>
            <a:endParaRPr/>
          </a:p>
        </p:txBody>
      </p:sp>
      <p:sp>
        <p:nvSpPr>
          <p:cNvPr id="95" name="Google Shape;95;p19"/>
          <p:cNvSpPr txBox="1"/>
          <p:nvPr>
            <p:ph idx="1" type="body"/>
          </p:nvPr>
        </p:nvSpPr>
        <p:spPr>
          <a:xfrm>
            <a:off x="311700" y="1152475"/>
            <a:ext cx="55197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By only contacting the top 30% of the list as per the model predictions, we can successfully capture nearly half of all potential enrollers.</a:t>
            </a:r>
            <a:endParaRPr sz="1500"/>
          </a:p>
          <a:p>
            <a:pPr indent="-323850" lvl="1" marL="914400" rtl="0" algn="l">
              <a:spcBef>
                <a:spcPts val="0"/>
              </a:spcBef>
              <a:spcAft>
                <a:spcPts val="0"/>
              </a:spcAft>
              <a:buSzPts val="1500"/>
              <a:buChar char="○"/>
            </a:pPr>
            <a:r>
              <a:rPr lang="en" sz="1500"/>
              <a:t>Ignore 70% of potential noise, more honed in and focused outreach effort for top predicted enrollees</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The model’s prioritization is 77% more effective than random sampling in the top 10% of outreach alone.</a:t>
            </a:r>
            <a:endParaRPr sz="1500"/>
          </a:p>
        </p:txBody>
      </p:sp>
      <p:graphicFrame>
        <p:nvGraphicFramePr>
          <p:cNvPr id="96" name="Google Shape;96;p19"/>
          <p:cNvGraphicFramePr/>
          <p:nvPr/>
        </p:nvGraphicFramePr>
        <p:xfrm>
          <a:off x="5978750" y="863900"/>
          <a:ext cx="3000000" cy="3000000"/>
        </p:xfrm>
        <a:graphic>
          <a:graphicData uri="http://schemas.openxmlformats.org/drawingml/2006/table">
            <a:tbl>
              <a:tblPr>
                <a:noFill/>
                <a:tableStyleId>{4153A3E5-8323-4EAB-9F2E-A18953015E6B}</a:tableStyleId>
              </a:tblPr>
              <a:tblGrid>
                <a:gridCol w="995525"/>
                <a:gridCol w="995525"/>
                <a:gridCol w="995525"/>
              </a:tblGrid>
              <a:tr h="982475">
                <a:tc>
                  <a:txBody>
                    <a:bodyPr/>
                    <a:lstStyle/>
                    <a:p>
                      <a:pPr indent="0" lvl="0" marL="0" rtl="0" algn="l">
                        <a:spcBef>
                          <a:spcPts val="0"/>
                        </a:spcBef>
                        <a:spcAft>
                          <a:spcPts val="0"/>
                        </a:spcAft>
                        <a:buNone/>
                      </a:pPr>
                      <a:r>
                        <a:rPr lang="en"/>
                        <a:t>% Of List Contacted</a:t>
                      </a:r>
                      <a:endParaRPr/>
                    </a:p>
                  </a:txBody>
                  <a:tcPr marT="91425" marB="91425" marR="91425" marL="91425"/>
                </a:tc>
                <a:tc>
                  <a:txBody>
                    <a:bodyPr/>
                    <a:lstStyle/>
                    <a:p>
                      <a:pPr indent="0" lvl="0" marL="0" rtl="0" algn="l">
                        <a:spcBef>
                          <a:spcPts val="0"/>
                        </a:spcBef>
                        <a:spcAft>
                          <a:spcPts val="0"/>
                        </a:spcAft>
                        <a:buNone/>
                      </a:pPr>
                      <a:r>
                        <a:rPr lang="en"/>
                        <a:t>% Of Enrollers Captured</a:t>
                      </a:r>
                      <a:endParaRPr/>
                    </a:p>
                  </a:txBody>
                  <a:tcPr marT="91425" marB="91425" marR="91425" marL="91425"/>
                </a:tc>
                <a:tc>
                  <a:txBody>
                    <a:bodyPr/>
                    <a:lstStyle/>
                    <a:p>
                      <a:pPr indent="0" lvl="0" marL="0" rtl="0" algn="l">
                        <a:spcBef>
                          <a:spcPts val="0"/>
                        </a:spcBef>
                        <a:spcAft>
                          <a:spcPts val="0"/>
                        </a:spcAft>
                        <a:buNone/>
                      </a:pPr>
                      <a:r>
                        <a:rPr lang="en"/>
                        <a:t>Lift vs Random</a:t>
                      </a:r>
                      <a:endParaRPr/>
                    </a:p>
                  </a:txBody>
                  <a:tcPr marT="91425" marB="91425" marR="91425" marL="91425"/>
                </a:tc>
              </a:tr>
              <a:tr h="982475">
                <a:tc>
                  <a:txBody>
                    <a:bodyPr/>
                    <a:lstStyle/>
                    <a:p>
                      <a:pPr indent="0" lvl="0" marL="0" rtl="0" algn="l">
                        <a:spcBef>
                          <a:spcPts val="0"/>
                        </a:spcBef>
                        <a:spcAft>
                          <a:spcPts val="0"/>
                        </a:spcAft>
                        <a:buNone/>
                      </a:pPr>
                      <a:r>
                        <a:rPr lang="en"/>
                        <a:t>Top 10% model scores</a:t>
                      </a:r>
                      <a:endParaRPr/>
                    </a:p>
                  </a:txBody>
                  <a:tcPr marT="91425" marB="91425" marR="91425" marL="91425"/>
                </a:tc>
                <a:tc>
                  <a:txBody>
                    <a:bodyPr/>
                    <a:lstStyle/>
                    <a:p>
                      <a:pPr indent="0" lvl="0" marL="0" rtl="0" algn="l">
                        <a:spcBef>
                          <a:spcPts val="0"/>
                        </a:spcBef>
                        <a:spcAft>
                          <a:spcPts val="0"/>
                        </a:spcAft>
                        <a:buNone/>
                      </a:pPr>
                      <a:r>
                        <a:rPr lang="en"/>
                        <a:t>17.7%</a:t>
                      </a:r>
                      <a:endParaRPr/>
                    </a:p>
                  </a:txBody>
                  <a:tcPr marT="91425" marB="91425" marR="91425" marL="91425"/>
                </a:tc>
                <a:tc>
                  <a:txBody>
                    <a:bodyPr/>
                    <a:lstStyle/>
                    <a:p>
                      <a:pPr indent="0" lvl="0" marL="0" rtl="0" algn="l">
                        <a:spcBef>
                          <a:spcPts val="0"/>
                        </a:spcBef>
                        <a:spcAft>
                          <a:spcPts val="0"/>
                        </a:spcAft>
                        <a:buNone/>
                      </a:pPr>
                      <a:r>
                        <a:rPr lang="en"/>
                        <a:t>1.77x</a:t>
                      </a:r>
                      <a:endParaRPr/>
                    </a:p>
                  </a:txBody>
                  <a:tcPr marT="91425" marB="91425" marR="91425" marL="91425"/>
                </a:tc>
              </a:tr>
              <a:tr h="982475">
                <a:tc>
                  <a:txBody>
                    <a:bodyPr/>
                    <a:lstStyle/>
                    <a:p>
                      <a:pPr indent="0" lvl="0" marL="0" rtl="0" algn="l">
                        <a:spcBef>
                          <a:spcPts val="0"/>
                        </a:spcBef>
                        <a:spcAft>
                          <a:spcPts val="0"/>
                        </a:spcAft>
                        <a:buNone/>
                      </a:pPr>
                      <a:r>
                        <a:rPr lang="en"/>
                        <a:t>Top 20% model scores</a:t>
                      </a:r>
                      <a:endParaRPr/>
                    </a:p>
                  </a:txBody>
                  <a:tcPr marT="91425" marB="91425" marR="91425" marL="91425"/>
                </a:tc>
                <a:tc>
                  <a:txBody>
                    <a:bodyPr/>
                    <a:lstStyle/>
                    <a:p>
                      <a:pPr indent="0" lvl="0" marL="0" rtl="0" algn="l">
                        <a:spcBef>
                          <a:spcPts val="0"/>
                        </a:spcBef>
                        <a:spcAft>
                          <a:spcPts val="0"/>
                        </a:spcAft>
                        <a:buNone/>
                      </a:pPr>
                      <a:r>
                        <a:rPr lang="en"/>
                        <a:t>32.9%</a:t>
                      </a:r>
                      <a:endParaRPr/>
                    </a:p>
                  </a:txBody>
                  <a:tcPr marT="91425" marB="91425" marR="91425" marL="91425"/>
                </a:tc>
                <a:tc>
                  <a:txBody>
                    <a:bodyPr/>
                    <a:lstStyle/>
                    <a:p>
                      <a:pPr indent="0" lvl="0" marL="0" rtl="0" algn="l">
                        <a:spcBef>
                          <a:spcPts val="0"/>
                        </a:spcBef>
                        <a:spcAft>
                          <a:spcPts val="0"/>
                        </a:spcAft>
                        <a:buNone/>
                      </a:pPr>
                      <a:r>
                        <a:rPr lang="en"/>
                        <a:t>1.64x</a:t>
                      </a:r>
                      <a:endParaRPr/>
                    </a:p>
                  </a:txBody>
                  <a:tcPr marT="91425" marB="91425" marR="91425" marL="91425"/>
                </a:tc>
              </a:tr>
              <a:tr h="982475">
                <a:tc>
                  <a:txBody>
                    <a:bodyPr/>
                    <a:lstStyle/>
                    <a:p>
                      <a:pPr indent="0" lvl="0" marL="0" rtl="0" algn="l">
                        <a:spcBef>
                          <a:spcPts val="0"/>
                        </a:spcBef>
                        <a:spcAft>
                          <a:spcPts val="0"/>
                        </a:spcAft>
                        <a:buNone/>
                      </a:pPr>
                      <a:r>
                        <a:rPr lang="en"/>
                        <a:t>Top 30% model scores</a:t>
                      </a:r>
                      <a:endParaRPr/>
                    </a:p>
                  </a:txBody>
                  <a:tcPr marT="91425" marB="91425" marR="91425" marL="91425"/>
                </a:tc>
                <a:tc>
                  <a:txBody>
                    <a:bodyPr/>
                    <a:lstStyle/>
                    <a:p>
                      <a:pPr indent="0" lvl="0" marL="0" rtl="0" algn="l">
                        <a:spcBef>
                          <a:spcPts val="0"/>
                        </a:spcBef>
                        <a:spcAft>
                          <a:spcPts val="0"/>
                        </a:spcAft>
                        <a:buNone/>
                      </a:pPr>
                      <a:r>
                        <a:rPr lang="en"/>
                        <a:t>45.9%</a:t>
                      </a:r>
                      <a:endParaRPr/>
                    </a:p>
                  </a:txBody>
                  <a:tcPr marT="91425" marB="91425" marR="91425" marL="91425"/>
                </a:tc>
                <a:tc>
                  <a:txBody>
                    <a:bodyPr/>
                    <a:lstStyle/>
                    <a:p>
                      <a:pPr indent="0" lvl="0" marL="0" rtl="0" algn="l">
                        <a:spcBef>
                          <a:spcPts val="0"/>
                        </a:spcBef>
                        <a:spcAft>
                          <a:spcPts val="0"/>
                        </a:spcAft>
                        <a:buNone/>
                      </a:pPr>
                      <a:r>
                        <a:rPr lang="en"/>
                        <a:t>1.53x</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Interpretability</a:t>
            </a:r>
            <a:endParaRPr/>
          </a:p>
        </p:txBody>
      </p:sp>
      <p:sp>
        <p:nvSpPr>
          <p:cNvPr id="102" name="Google Shape;102;p20"/>
          <p:cNvSpPr txBox="1"/>
          <p:nvPr>
            <p:ph idx="1" type="body"/>
          </p:nvPr>
        </p:nvSpPr>
        <p:spPr>
          <a:xfrm>
            <a:off x="311700" y="1152475"/>
            <a:ext cx="40971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Features such as length of residence, age, if they are a donor tend to drive the individual to be marked </a:t>
            </a:r>
            <a:r>
              <a:rPr i="1" lang="en" sz="1300"/>
              <a:t>more likely</a:t>
            </a:r>
            <a:r>
              <a:rPr lang="en" sz="1300"/>
              <a:t> to be a </a:t>
            </a:r>
            <a:r>
              <a:rPr lang="en" sz="1300"/>
              <a:t>enrollee by the model.</a:t>
            </a:r>
            <a:endParaRPr sz="1300"/>
          </a:p>
          <a:p>
            <a:pPr indent="0" lvl="0" marL="0" rtl="0" algn="l">
              <a:spcBef>
                <a:spcPts val="1200"/>
              </a:spcBef>
              <a:spcAft>
                <a:spcPts val="0"/>
              </a:spcAft>
              <a:buNone/>
            </a:pPr>
            <a:r>
              <a:t/>
            </a:r>
            <a:endParaRPr sz="1300"/>
          </a:p>
          <a:p>
            <a:pPr indent="-311150" lvl="0" marL="457200" rtl="0" algn="l">
              <a:spcBef>
                <a:spcPts val="1200"/>
              </a:spcBef>
              <a:spcAft>
                <a:spcPts val="0"/>
              </a:spcAft>
              <a:buSzPts val="1300"/>
              <a:buChar char="●"/>
            </a:pPr>
            <a:r>
              <a:rPr lang="en" sz="1300"/>
              <a:t>Features such as the gender (female vs male), marital status, and the political organization tend to drive the individual to be marked </a:t>
            </a:r>
            <a:r>
              <a:rPr i="1" lang="en" sz="1300"/>
              <a:t>less likely</a:t>
            </a:r>
            <a:r>
              <a:rPr lang="en" sz="1300"/>
              <a:t> to be an enrollee by the model</a:t>
            </a:r>
            <a:endParaRPr sz="1300"/>
          </a:p>
        </p:txBody>
      </p:sp>
      <p:pic>
        <p:nvPicPr>
          <p:cNvPr id="103" name="Google Shape;103;p20" title="feature_importance_coefficients.png"/>
          <p:cNvPicPr preferRelativeResize="0"/>
          <p:nvPr/>
        </p:nvPicPr>
        <p:blipFill>
          <a:blip r:embed="rId3">
            <a:alphaModFix/>
          </a:blip>
          <a:stretch>
            <a:fillRect/>
          </a:stretch>
        </p:blipFill>
        <p:spPr>
          <a:xfrm>
            <a:off x="4508925" y="1031424"/>
            <a:ext cx="4444249" cy="3537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Interpretability</a:t>
            </a:r>
            <a:endParaRPr/>
          </a:p>
        </p:txBody>
      </p:sp>
      <p:sp>
        <p:nvSpPr>
          <p:cNvPr id="109" name="Google Shape;109;p21"/>
          <p:cNvSpPr txBox="1"/>
          <p:nvPr>
            <p:ph idx="1" type="body"/>
          </p:nvPr>
        </p:nvSpPr>
        <p:spPr>
          <a:xfrm>
            <a:off x="311700" y="1152475"/>
            <a:ext cx="4847400" cy="3416400"/>
          </a:xfrm>
          <a:prstGeom prst="rect">
            <a:avLst/>
          </a:prstGeom>
        </p:spPr>
        <p:txBody>
          <a:bodyPr anchorCtr="0" anchor="t" bIns="91425" lIns="91425" spcFirstLastPara="1" rIns="91425" wrap="square" tIns="91425">
            <a:normAutofit fontScale="92500" lnSpcReduction="20000"/>
          </a:bodyPr>
          <a:lstStyle/>
          <a:p>
            <a:pPr indent="-316706" lvl="0" marL="457200" rtl="0" algn="l">
              <a:spcBef>
                <a:spcPts val="0"/>
              </a:spcBef>
              <a:spcAft>
                <a:spcPts val="0"/>
              </a:spcAft>
              <a:buSzPct val="100000"/>
              <a:buChar char="●"/>
            </a:pPr>
            <a:r>
              <a:rPr lang="en" sz="1500"/>
              <a:t>While the coefficients don’t really tell us much about the actual </a:t>
            </a:r>
            <a:r>
              <a:rPr i="1" lang="en" sz="1500"/>
              <a:t>values</a:t>
            </a:r>
            <a:r>
              <a:rPr lang="en" sz="1500"/>
              <a:t> themselves that are causing the prediction to be driven a certain way, the SHAP values do.</a:t>
            </a:r>
            <a:endParaRPr sz="1500"/>
          </a:p>
          <a:p>
            <a:pPr indent="0" lvl="0" marL="457200" rtl="0" algn="l">
              <a:spcBef>
                <a:spcPts val="1200"/>
              </a:spcBef>
              <a:spcAft>
                <a:spcPts val="0"/>
              </a:spcAft>
              <a:buNone/>
            </a:pPr>
            <a:r>
              <a:t/>
            </a:r>
            <a:endParaRPr sz="1500"/>
          </a:p>
          <a:p>
            <a:pPr indent="-316706" lvl="0" marL="457200" rtl="0" algn="l">
              <a:spcBef>
                <a:spcPts val="1200"/>
              </a:spcBef>
              <a:spcAft>
                <a:spcPts val="0"/>
              </a:spcAft>
              <a:buSzPct val="100000"/>
              <a:buChar char="●"/>
            </a:pPr>
            <a:r>
              <a:rPr lang="en" sz="1500"/>
              <a:t>For example, as the age increases, it has a slight positive impact on the model to predict that they will be an enrollee</a:t>
            </a:r>
            <a:endParaRPr sz="1500"/>
          </a:p>
          <a:p>
            <a:pPr indent="0" lvl="0" marL="457200" rtl="0" algn="l">
              <a:spcBef>
                <a:spcPts val="1200"/>
              </a:spcBef>
              <a:spcAft>
                <a:spcPts val="0"/>
              </a:spcAft>
              <a:buNone/>
            </a:pPr>
            <a:r>
              <a:t/>
            </a:r>
            <a:endParaRPr sz="1500"/>
          </a:p>
          <a:p>
            <a:pPr indent="-316706" lvl="0" marL="457200" rtl="0" algn="l">
              <a:spcBef>
                <a:spcPts val="1200"/>
              </a:spcBef>
              <a:spcAft>
                <a:spcPts val="0"/>
              </a:spcAft>
              <a:buSzPct val="100000"/>
              <a:buChar char="●"/>
            </a:pPr>
            <a:r>
              <a:rPr lang="en" sz="1500"/>
              <a:t>Those that make above the median salary in Texas (feature; `above_texas_median`) have a somewhat higher </a:t>
            </a:r>
            <a:r>
              <a:rPr lang="en" sz="1500"/>
              <a:t>impact</a:t>
            </a:r>
            <a:r>
              <a:rPr lang="en" sz="1500"/>
              <a:t> to drive the model to predict that they will be an enrollee</a:t>
            </a:r>
            <a:endParaRPr sz="1500"/>
          </a:p>
        </p:txBody>
      </p:sp>
      <p:pic>
        <p:nvPicPr>
          <p:cNvPr id="110" name="Google Shape;110;p21" title="shap.png"/>
          <p:cNvPicPr preferRelativeResize="0"/>
          <p:nvPr/>
        </p:nvPicPr>
        <p:blipFill>
          <a:blip r:embed="rId3">
            <a:alphaModFix/>
          </a:blip>
          <a:stretch>
            <a:fillRect/>
          </a:stretch>
        </p:blipFill>
        <p:spPr>
          <a:xfrm>
            <a:off x="5224376" y="332225"/>
            <a:ext cx="3711925" cy="4479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Assumptions and limitations</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295275" lvl="0" marL="457200" rtl="0" algn="l">
              <a:spcBef>
                <a:spcPts val="0"/>
              </a:spcBef>
              <a:spcAft>
                <a:spcPts val="0"/>
              </a:spcAft>
              <a:buSzPct val="100000"/>
              <a:buAutoNum type="arabicPeriod"/>
            </a:pPr>
            <a:r>
              <a:rPr lang="en" sz="1500"/>
              <a:t>Houston behavior mirrors rest of Texas</a:t>
            </a:r>
            <a:endParaRPr sz="1500"/>
          </a:p>
          <a:p>
            <a:pPr indent="0" lvl="0" marL="0" rtl="0" algn="l">
              <a:spcBef>
                <a:spcPts val="1200"/>
              </a:spcBef>
              <a:spcAft>
                <a:spcPts val="0"/>
              </a:spcAft>
              <a:buNone/>
            </a:pPr>
            <a:r>
              <a:t/>
            </a:r>
            <a:endParaRPr sz="1500"/>
          </a:p>
          <a:p>
            <a:pPr indent="-295275" lvl="0" marL="457200" rtl="0" algn="l">
              <a:spcBef>
                <a:spcPts val="1200"/>
              </a:spcBef>
              <a:spcAft>
                <a:spcPts val="0"/>
              </a:spcAft>
              <a:buSzPct val="100000"/>
              <a:buAutoNum type="arabicPeriod"/>
            </a:pPr>
            <a:r>
              <a:rPr lang="en" sz="1500"/>
              <a:t>Outreach capacity is not constrained– I optimized for Recall in this case. Assuming the cost of extra contact is low, relative to missing a potential enrollee</a:t>
            </a:r>
            <a:endParaRPr sz="1500"/>
          </a:p>
          <a:p>
            <a:pPr indent="0" lvl="0" marL="0" rtl="0" algn="l">
              <a:spcBef>
                <a:spcPts val="1200"/>
              </a:spcBef>
              <a:spcAft>
                <a:spcPts val="0"/>
              </a:spcAft>
              <a:buNone/>
            </a:pPr>
            <a:r>
              <a:t/>
            </a:r>
            <a:endParaRPr sz="1500"/>
          </a:p>
          <a:p>
            <a:pPr indent="-295275" lvl="0" marL="457200" rtl="0" algn="l">
              <a:spcBef>
                <a:spcPts val="1200"/>
              </a:spcBef>
              <a:spcAft>
                <a:spcPts val="0"/>
              </a:spcAft>
              <a:buSzPct val="100000"/>
              <a:buAutoNum type="arabicPeriod"/>
            </a:pPr>
            <a:r>
              <a:rPr lang="en" sz="1500"/>
              <a:t>No prior Houston enrollment data – We cannot validate the immediate performance. We’d need to set up some infrastructure such that we receive feedback from outreach crew on who ended up enrolling and who didn’t. We can utilize this to fine-tune the model and re-train.</a:t>
            </a:r>
            <a:endParaRPr sz="1500"/>
          </a:p>
          <a:p>
            <a:pPr indent="0" lvl="0" marL="457200" rtl="0" algn="l">
              <a:spcBef>
                <a:spcPts val="1200"/>
              </a:spcBef>
              <a:spcAft>
                <a:spcPts val="0"/>
              </a:spcAft>
              <a:buNone/>
            </a:pPr>
            <a:r>
              <a:t/>
            </a:r>
            <a:endParaRPr sz="1500"/>
          </a:p>
          <a:p>
            <a:pPr indent="-295275" lvl="0" marL="457200" rtl="0" algn="l">
              <a:spcBef>
                <a:spcPts val="1200"/>
              </a:spcBef>
              <a:spcAft>
                <a:spcPts val="0"/>
              </a:spcAft>
              <a:buSzPct val="100000"/>
              <a:buAutoNum type="arabicPeriod"/>
            </a:pPr>
            <a:r>
              <a:rPr lang="en" sz="1500"/>
              <a:t>If the underlying distribution of the data begins to drift drastically, we could re-train the model. This is a time-in-point snapshot for which the model was trained on. We can use something like Mlflow or Arize to integrate model monitoring and have drift detection :)</a:t>
            </a:r>
            <a:endParaRPr sz="1500"/>
          </a:p>
          <a:p>
            <a:pPr indent="0" lvl="0" marL="0" rtl="0" algn="l">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a:t>
            </a:r>
            <a:endParaRPr/>
          </a:p>
        </p:txBody>
      </p:sp>
      <p:sp>
        <p:nvSpPr>
          <p:cNvPr id="122" name="Google Shape;12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Thanks for taking the time to read through the release notes and my code submission. </a:t>
            </a:r>
            <a:endParaRPr/>
          </a:p>
          <a:p>
            <a:pPr indent="0" lvl="0" marL="0" rtl="0" algn="l">
              <a:spcBef>
                <a:spcPts val="1200"/>
              </a:spcBef>
              <a:spcAft>
                <a:spcPts val="1200"/>
              </a:spcAft>
              <a:buNone/>
            </a:pPr>
            <a:r>
              <a:rPr lang="en"/>
              <a:t>If I had some more time, i’d integrate model monitoring and versioning using something like Arize / MLflow. This enables us to make adjustments and upload new versions of the model which we can swap out and use in production with ease.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